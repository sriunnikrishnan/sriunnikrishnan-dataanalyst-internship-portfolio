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16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5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5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48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9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45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1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8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42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7542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58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7666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31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386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06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F4F38-1583-4B80-93F4-65192053141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707B362-B989-4470-878E-47F03183A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11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AE07-0382-83A2-8A89-8379A2097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2539" y="749969"/>
            <a:ext cx="8915399" cy="2262781"/>
          </a:xfrm>
        </p:spPr>
        <p:txBody>
          <a:bodyPr>
            <a:normAutofit/>
          </a:bodyPr>
          <a:lstStyle/>
          <a:p>
            <a:r>
              <a:rPr lang="en-IN" sz="4800" dirty="0"/>
              <a:t>Customer Analysis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9DF90-E6A8-ACDD-1113-8EDAA598E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640881"/>
            <a:ext cx="8915399" cy="226278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Analytics Internship - Task 4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Presented </a:t>
            </a:r>
            <a:r>
              <a:rPr lang="en-US" sz="2000" dirty="0" err="1">
                <a:solidFill>
                  <a:srgbClr val="0070C0"/>
                </a:solidFill>
              </a:rPr>
              <a:t>By:SRIUNNIKRISHNAN</a:t>
            </a:r>
            <a:r>
              <a:rPr lang="en-US" sz="2000" dirty="0">
                <a:solidFill>
                  <a:srgbClr val="0070C0"/>
                </a:solidFill>
              </a:rPr>
              <a:t> JS</a:t>
            </a:r>
          </a:p>
          <a:p>
            <a:r>
              <a:rPr lang="en-IN" sz="2000" dirty="0" err="1">
                <a:solidFill>
                  <a:srgbClr val="0070C0"/>
                </a:solidFill>
              </a:rPr>
              <a:t>ApexPlanet</a:t>
            </a:r>
            <a:r>
              <a:rPr lang="en-IN" sz="2000" dirty="0">
                <a:solidFill>
                  <a:srgbClr val="0070C0"/>
                </a:solidFill>
              </a:rPr>
              <a:t> Internship Program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4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3DA5-5D4B-84A8-4021-9D4443CE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A1056-EC9D-5852-A070-A6B69F67B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Analyze customer purchasing behavior</a:t>
            </a:r>
          </a:p>
          <a:p>
            <a:endParaRPr lang="en-US" dirty="0"/>
          </a:p>
          <a:p>
            <a:r>
              <a:rPr lang="en-US" dirty="0"/>
              <a:t>• Identify high-value customer segments</a:t>
            </a:r>
          </a:p>
          <a:p>
            <a:endParaRPr lang="en-US" dirty="0"/>
          </a:p>
          <a:p>
            <a:r>
              <a:rPr lang="en-US" dirty="0"/>
              <a:t>• Study regional and sales trends</a:t>
            </a:r>
          </a:p>
          <a:p>
            <a:endParaRPr lang="en-US" dirty="0"/>
          </a:p>
          <a:p>
            <a:r>
              <a:rPr lang="en-US" dirty="0"/>
              <a:t>• Generate business recommendations</a:t>
            </a:r>
          </a:p>
          <a:p>
            <a:endParaRPr lang="en-US" dirty="0"/>
          </a:p>
          <a:p>
            <a:r>
              <a:rPr lang="en-US" dirty="0"/>
              <a:t>• Validate insights using statistical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00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2C83-95FB-57D0-9B57-7F516001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51B-1790-1463-2461-CD9252826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Dataset Name: Superstore Sales Dataset</a:t>
            </a:r>
          </a:p>
          <a:p>
            <a:endParaRPr lang="en-IN" dirty="0"/>
          </a:p>
          <a:p>
            <a:r>
              <a:rPr lang="en-IN" dirty="0"/>
              <a:t>Total Rows: 9994</a:t>
            </a:r>
          </a:p>
          <a:p>
            <a:endParaRPr lang="en-IN" dirty="0"/>
          </a:p>
          <a:p>
            <a:r>
              <a:rPr lang="en-IN" dirty="0"/>
              <a:t>Total Columns: 21</a:t>
            </a:r>
          </a:p>
          <a:p>
            <a:endParaRPr lang="en-IN" dirty="0"/>
          </a:p>
          <a:p>
            <a:r>
              <a:rPr lang="en-IN" dirty="0"/>
              <a:t>Data Includes:</a:t>
            </a:r>
          </a:p>
          <a:p>
            <a:r>
              <a:rPr lang="en-IN" dirty="0"/>
              <a:t>• Customer Information</a:t>
            </a:r>
          </a:p>
          <a:p>
            <a:r>
              <a:rPr lang="en-IN" dirty="0"/>
              <a:t>• Product Details</a:t>
            </a:r>
          </a:p>
          <a:p>
            <a:r>
              <a:rPr lang="en-IN" dirty="0"/>
              <a:t>• Sales &amp; Profit</a:t>
            </a:r>
          </a:p>
          <a:p>
            <a:r>
              <a:rPr lang="en-IN" dirty="0"/>
              <a:t>• Regional Data</a:t>
            </a:r>
          </a:p>
          <a:p>
            <a:r>
              <a:rPr lang="en-IN" dirty="0"/>
              <a:t>• Discounts &amp; Orders</a:t>
            </a:r>
          </a:p>
        </p:txBody>
      </p:sp>
    </p:spTree>
    <p:extLst>
      <p:ext uri="{BB962C8B-B14F-4D97-AF65-F5344CB8AC3E}">
        <p14:creationId xmlns:p14="http://schemas.microsoft.com/office/powerpoint/2010/main" val="193246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D306-CE21-5045-7662-3ECA6D6F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39A6F-D522-058F-E9B4-39B952ED3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18049" r="20689" b="12878"/>
          <a:stretch>
            <a:fillRect/>
          </a:stretch>
        </p:blipFill>
        <p:spPr>
          <a:xfrm>
            <a:off x="2592925" y="1905000"/>
            <a:ext cx="8251538" cy="414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91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3D83-C7C2-9774-E3CA-20710581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Segment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1637-4DD6-507E-1D3F-769A7A0DB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• Corporate customers generated highest sales</a:t>
            </a:r>
          </a:p>
          <a:p>
            <a:endParaRPr lang="en-US" dirty="0"/>
          </a:p>
          <a:p>
            <a:r>
              <a:rPr lang="en-US" dirty="0"/>
              <a:t>• Consumer segment contributed strong order volume</a:t>
            </a:r>
          </a:p>
          <a:p>
            <a:endParaRPr lang="en-US" dirty="0"/>
          </a:p>
          <a:p>
            <a:r>
              <a:rPr lang="en-US" dirty="0"/>
              <a:t>• Home Office segment showed lower contribution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28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6899-F291-E367-CA86-B6F1821D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Profit Analysis by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B86D5-D122-B955-4D86-314CD177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• Consumer segment produced strong profitability</a:t>
            </a:r>
          </a:p>
          <a:p>
            <a:endParaRPr lang="en-US" dirty="0"/>
          </a:p>
          <a:p>
            <a:r>
              <a:rPr lang="en-US" dirty="0"/>
              <a:t>• Corporate customers maintained stable profits</a:t>
            </a:r>
          </a:p>
          <a:p>
            <a:endParaRPr lang="en-US" dirty="0"/>
          </a:p>
          <a:p>
            <a:r>
              <a:rPr lang="en-US" dirty="0"/>
              <a:t>• Profitability varied across segments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52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BA98-69E5-4FFB-058D-28FFB4FD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Sales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028FA-97D2-1888-1182-B4AE94227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• Sales increased during festive seasons</a:t>
            </a:r>
          </a:p>
          <a:p>
            <a:endParaRPr lang="en-US" dirty="0"/>
          </a:p>
          <a:p>
            <a:r>
              <a:rPr lang="en-US" dirty="0"/>
              <a:t>• Monthly fluctuations were observed</a:t>
            </a:r>
          </a:p>
          <a:p>
            <a:endParaRPr lang="en-US" dirty="0"/>
          </a:p>
          <a:p>
            <a:r>
              <a:rPr lang="en-US" dirty="0"/>
              <a:t>• Peak sales months generated higher revenue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82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36B6-303C-06CB-F24F-3188AB1E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CE0B6-9A8D-34FC-79B7-47A643FC5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• West region generated highest profit</a:t>
            </a:r>
          </a:p>
          <a:p>
            <a:endParaRPr lang="en-US" dirty="0"/>
          </a:p>
          <a:p>
            <a:r>
              <a:rPr lang="en-US" dirty="0"/>
              <a:t>• East region showed consistent sales</a:t>
            </a:r>
          </a:p>
          <a:p>
            <a:endParaRPr lang="en-US" dirty="0"/>
          </a:p>
          <a:p>
            <a:r>
              <a:rPr lang="en-US" dirty="0"/>
              <a:t>• Regional performance differed significantly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92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FCB1-2B64-3A32-8AB6-6C4D185B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Customers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DF6F-6B4E-C42E-AB69-8D72DB37D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• Few customers contributed major revenue</a:t>
            </a:r>
          </a:p>
          <a:p>
            <a:endParaRPr lang="en-US" dirty="0"/>
          </a:p>
          <a:p>
            <a:r>
              <a:rPr lang="en-US" dirty="0"/>
              <a:t>• High-value customers should be retained</a:t>
            </a:r>
          </a:p>
          <a:p>
            <a:endParaRPr lang="en-US" dirty="0"/>
          </a:p>
          <a:p>
            <a:r>
              <a:rPr lang="en-US" dirty="0"/>
              <a:t>• Customer loyalty programs can improve retention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9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316C-A9D0-037D-B531-92F021D7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B676-4800-0DA3-7BD8-CE2FDAAC3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Question:</a:t>
            </a:r>
          </a:p>
          <a:p>
            <a:endParaRPr lang="en-US" dirty="0"/>
          </a:p>
          <a:p>
            <a:r>
              <a:rPr lang="en-US" dirty="0"/>
              <a:t>Do discounts significantly affect customer purchases?</a:t>
            </a:r>
          </a:p>
          <a:p>
            <a:endParaRPr lang="en-US" dirty="0"/>
          </a:p>
          <a:p>
            <a:r>
              <a:rPr lang="en-US" dirty="0"/>
              <a:t>Null Hypothesis (H0):</a:t>
            </a:r>
          </a:p>
          <a:p>
            <a:r>
              <a:rPr lang="en-US" dirty="0"/>
              <a:t>Discounts do not affect customer purchases.</a:t>
            </a:r>
          </a:p>
          <a:p>
            <a:endParaRPr lang="en-US" dirty="0"/>
          </a:p>
          <a:p>
            <a:r>
              <a:rPr lang="en-US" dirty="0"/>
              <a:t>Alternative Hypothesis (H1):</a:t>
            </a:r>
          </a:p>
          <a:p>
            <a:r>
              <a:rPr lang="en-US" dirty="0"/>
              <a:t>Discounts significantly affect customer purchases.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79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D216-BC07-7661-04FF-28FE4C2C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F56549-189D-89A9-878F-32B9F1722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" t="14011" r="6905" b="9137"/>
          <a:stretch>
            <a:fillRect/>
          </a:stretch>
        </p:blipFill>
        <p:spPr>
          <a:xfrm>
            <a:off x="1860884" y="1905000"/>
            <a:ext cx="9160042" cy="4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D0C3-8779-A688-4B6F-7F3DCFFB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A7C8-CF3F-7603-ED07-F5A213101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Focus more on corporate customers</a:t>
            </a:r>
          </a:p>
          <a:p>
            <a:endParaRPr lang="en-US" dirty="0"/>
          </a:p>
          <a:p>
            <a:r>
              <a:rPr lang="en-US" dirty="0"/>
              <a:t>2. Improve customer retention strategies</a:t>
            </a:r>
          </a:p>
          <a:p>
            <a:endParaRPr lang="en-US" dirty="0"/>
          </a:p>
          <a:p>
            <a:r>
              <a:rPr lang="en-US" dirty="0"/>
              <a:t>3. Increase promotional campaigns</a:t>
            </a:r>
          </a:p>
          <a:p>
            <a:endParaRPr lang="en-US" dirty="0"/>
          </a:p>
          <a:p>
            <a:r>
              <a:rPr lang="en-US" dirty="0"/>
              <a:t>4. Expand operations in profitable regions</a:t>
            </a:r>
          </a:p>
          <a:p>
            <a:endParaRPr lang="en-US" dirty="0"/>
          </a:p>
          <a:p>
            <a:r>
              <a:rPr lang="en-US" dirty="0"/>
              <a:t>5. Enhance customer loyalty programs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718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24A1-DBAD-593C-3CB8-33F5935E1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1995-2ACC-E068-AF38-A5212A992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customer analysis identified</a:t>
            </a:r>
          </a:p>
          <a:p>
            <a:r>
              <a:rPr lang="en-US" dirty="0"/>
              <a:t>high-performing customer segments,</a:t>
            </a:r>
          </a:p>
          <a:p>
            <a:r>
              <a:rPr lang="en-US" dirty="0"/>
              <a:t>regional opportunities, and important</a:t>
            </a:r>
          </a:p>
          <a:p>
            <a:r>
              <a:rPr lang="en-US" dirty="0"/>
              <a:t>sales trends.</a:t>
            </a:r>
          </a:p>
          <a:p>
            <a:endParaRPr lang="en-US" dirty="0"/>
          </a:p>
          <a:p>
            <a:r>
              <a:rPr lang="en-US" dirty="0"/>
              <a:t>Statistical testing validated that</a:t>
            </a:r>
          </a:p>
          <a:p>
            <a:r>
              <a:rPr lang="en-US" dirty="0"/>
              <a:t>discount strategies significantly</a:t>
            </a:r>
          </a:p>
          <a:p>
            <a:r>
              <a:rPr lang="en-US" dirty="0"/>
              <a:t>impact customer purchasing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03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DB77-52EA-75A7-177F-FF42E685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190DA-5C85-1570-7F22-6F6C6A5D5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0817092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308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Wisp</vt:lpstr>
      <vt:lpstr>Customer Analysis &amp; Statistical Validation</vt:lpstr>
      <vt:lpstr>Project Objective</vt:lpstr>
      <vt:lpstr>Dataset Overview</vt:lpstr>
      <vt:lpstr>Key Performance Indicators</vt:lpstr>
      <vt:lpstr>Customer Segment Analysis</vt:lpstr>
      <vt:lpstr>Profit Analysis by Segment</vt:lpstr>
      <vt:lpstr>Monthly Sales Trend</vt:lpstr>
      <vt:lpstr>Regional Customer Analysis</vt:lpstr>
      <vt:lpstr>Top Customers Analysis</vt:lpstr>
      <vt:lpstr>Hypothesis Testing</vt:lpstr>
      <vt:lpstr>Statistical Test Results</vt:lpstr>
      <vt:lpstr>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SriUnnikrishnan js</dc:creator>
  <cp:lastModifiedBy>SriUnnikrishnan js</cp:lastModifiedBy>
  <cp:revision>2</cp:revision>
  <dcterms:created xsi:type="dcterms:W3CDTF">2026-05-11T14:43:35Z</dcterms:created>
  <dcterms:modified xsi:type="dcterms:W3CDTF">2026-05-11T14:55:16Z</dcterms:modified>
</cp:coreProperties>
</file>